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4" name="Picture 3" descr="watermark-proka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03120" y="1280160"/>
            <a:ext cx="4754880" cy="1184077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 b="1">
                <a:solidFill>
                  <a:srgbClr val="10102A"/>
                </a:solidFill>
              </a:defRPr>
            </a:pPr>
            <a:r>
              <a:t>Cenová nabídka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Číslo: CN-____/2026  |  Datum: __.__.2026</a:t>
            </a:r>
          </a:p>
        </p:txBody>
      </p:sp>
      <p:pic>
        <p:nvPicPr>
          <p:cNvPr id="5" name="Picture 4" descr="logo-prokat-inves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228600"/>
            <a:ext cx="2103120" cy="523726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0" y="960120"/>
            <a:ext cx="9144000" cy="54864"/>
          </a:xfrm>
          <a:prstGeom prst="rect">
            <a:avLst/>
          </a:prstGeom>
          <a:solidFill>
            <a:srgbClr val="D29C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640080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66666"/>
                </a:solidFill>
              </a:defRPr>
            </a:pPr>
            <a:r>
              <a:t>PROKAT invest  |  Cenová nabídka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3" name="Picture 2" descr="watermark-proka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03120" y="1280160"/>
            <a:ext cx="4754880" cy="1184077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Údaje zákazníka</a:t>
            </a:r>
          </a:p>
        </p:txBody>
      </p:sp>
      <p:pic>
        <p:nvPicPr>
          <p:cNvPr id="4" name="Picture 3" descr="logo-prokat-inves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228600"/>
            <a:ext cx="2103120" cy="523726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0" y="960120"/>
            <a:ext cx="9144000" cy="54864"/>
          </a:xfrm>
          <a:prstGeom prst="rect">
            <a:avLst/>
          </a:prstGeom>
          <a:solidFill>
            <a:srgbClr val="D29C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640080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66666"/>
                </a:solidFill>
              </a:defRPr>
            </a:pPr>
            <a:r>
              <a:t>PROKAT invest  |  Cenová nabídka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731520" y="1463040"/>
          <a:ext cx="777240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86200"/>
                <a:gridCol w="3886200"/>
              </a:tblGrid>
              <a:tr h="457200">
                <a:tc>
                  <a:txBody>
                    <a:bodyPr/>
                    <a:lstStyle/>
                    <a:p>
                      <a:pPr>
                        <a:defRPr b="1"/>
                      </a:pPr>
                      <a:r>
                        <a:t>Zákazník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b="1"/>
                      </a:pPr>
                      <a:r>
                        <a:t>Adresa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b="1"/>
                      </a:pPr>
                      <a:r>
                        <a:t>IČO / DIČ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b="1"/>
                      </a:pPr>
                      <a:r>
                        <a:t>Kontakt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b="1"/>
                      </a:pPr>
                      <a:r>
                        <a:t>Platnost nabídky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3" name="Picture 2" descr="watermark-proka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03120" y="1280160"/>
            <a:ext cx="4754880" cy="1184077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Položky nabídky</a:t>
            </a:r>
          </a:p>
        </p:txBody>
      </p:sp>
      <p:pic>
        <p:nvPicPr>
          <p:cNvPr id="4" name="Picture 3" descr="logo-prokat-inves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228600"/>
            <a:ext cx="2103120" cy="523726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0" y="960120"/>
            <a:ext cx="9144000" cy="54864"/>
          </a:xfrm>
          <a:prstGeom prst="rect">
            <a:avLst/>
          </a:prstGeom>
          <a:solidFill>
            <a:srgbClr val="D29C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640080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66666"/>
                </a:solidFill>
              </a:defRPr>
            </a:pPr>
            <a:r>
              <a:t>PROKAT invest  |  Cenová nabídka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57200" y="1371600"/>
          <a:ext cx="8229600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1645920"/>
                <a:gridCol w="1645920"/>
                <a:gridCol w="1645920"/>
                <a:gridCol w="1645920"/>
              </a:tblGrid>
              <a:tr h="640080">
                <a:tc>
                  <a:txBody>
                    <a:bodyPr/>
                    <a:lstStyle/>
                    <a:p>
                      <a:pPr>
                        <a:defRPr b="1">
                          <a:solidFill>
                            <a:srgbClr val="FFFFFF"/>
                          </a:solidFill>
                        </a:defRPr>
                      </a:pPr>
                      <a:r>
                        <a:t>Položka</a:t>
                      </a:r>
                    </a:p>
                  </a:txBody>
                  <a:tcPr>
                    <a:solidFill>
                      <a:srgbClr val="1010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>
                          <a:solidFill>
                            <a:srgbClr val="FFFFFF"/>
                          </a:solidFill>
                        </a:defRPr>
                      </a:pPr>
                      <a:r>
                        <a:t>Množství</a:t>
                      </a:r>
                    </a:p>
                  </a:txBody>
                  <a:tcPr>
                    <a:solidFill>
                      <a:srgbClr val="1010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>
                          <a:solidFill>
                            <a:srgbClr val="FFFFFF"/>
                          </a:solidFill>
                        </a:defRPr>
                      </a:pPr>
                      <a:r>
                        <a:t>MJ</a:t>
                      </a:r>
                    </a:p>
                  </a:txBody>
                  <a:tcPr>
                    <a:solidFill>
                      <a:srgbClr val="1010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>
                          <a:solidFill>
                            <a:srgbClr val="FFFFFF"/>
                          </a:solidFill>
                        </a:defRPr>
                      </a:pPr>
                      <a:r>
                        <a:t>Cena za MJ</a:t>
                      </a:r>
                    </a:p>
                  </a:txBody>
                  <a:tcPr>
                    <a:solidFill>
                      <a:srgbClr val="1010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>
                          <a:solidFill>
                            <a:srgbClr val="FFFFFF"/>
                          </a:solidFill>
                        </a:defRPr>
                      </a:pPr>
                      <a:r>
                        <a:t>Celkem</a:t>
                      </a:r>
                    </a:p>
                  </a:txBody>
                  <a:tcPr>
                    <a:solidFill>
                      <a:srgbClr val="10102A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r>
                        <a:t>Popis služby / produktu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ks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640080">
                <a:tc>
                  <a:txBody>
                    <a:bodyPr/>
                    <a:lstStyle/>
                    <a:p>
                      <a:r>
                        <a:t>Popis služby / produktu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ks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640080">
                <a:tc>
                  <a:txBody>
                    <a:bodyPr/>
                    <a:lstStyle/>
                    <a:p>
                      <a:r>
                        <a:t>Popis služby / produktu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ks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4" name="Picture 3" descr="watermark-proka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03120" y="1280160"/>
            <a:ext cx="4754880" cy="1184077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4C3A2E"/>
                </a:solidFill>
              </a:defRPr>
            </a:pPr>
            <a:r>
              <a:t>Obchodní podmínky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Dodací lhůta: dle dohody</a:t>
            </a:r>
          </a:p>
          <a:p>
            <a:pPr>
              <a:defRPr sz="1600"/>
            </a:pPr>
            <a:r>
              <a:t>Platební podmínky: dle dohody</a:t>
            </a:r>
          </a:p>
          <a:p>
            <a:pPr>
              <a:defRPr sz="1600"/>
            </a:pPr>
            <a:r>
              <a:t>Nabídka platí 30 dní od data vystavení</a:t>
            </a:r>
          </a:p>
        </p:txBody>
      </p:sp>
      <p:pic>
        <p:nvPicPr>
          <p:cNvPr id="5" name="Picture 4" descr="logo-prokat-inves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228600"/>
            <a:ext cx="2103120" cy="523726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0" y="960120"/>
            <a:ext cx="9144000" cy="54864"/>
          </a:xfrm>
          <a:prstGeom prst="rect">
            <a:avLst/>
          </a:prstGeom>
          <a:solidFill>
            <a:srgbClr val="D29C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640080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66666"/>
                </a:solidFill>
              </a:defRPr>
            </a:pPr>
            <a:r>
              <a:t>PROKAT invest  |  Cenová nabídka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